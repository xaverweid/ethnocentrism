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A014E7-0FD9-44B6-8FD9-53D5B2F5BF6F}">
  <a:tblStyle styleId="{CCA014E7-0FD9-44B6-8FD9-53D5B2F5BF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5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4.xml"/><Relationship Id="rId32" Type="http://schemas.openxmlformats.org/officeDocument/2006/relationships/font" Target="fonts/Raleway-italic.fntdata"/><Relationship Id="rId13" Type="http://schemas.openxmlformats.org/officeDocument/2006/relationships/slide" Target="slides/slide7.xml"/><Relationship Id="rId35" Type="http://schemas.openxmlformats.org/officeDocument/2006/relationships/font" Target="fonts/Lato-bold.fntdata"/><Relationship Id="rId12" Type="http://schemas.openxmlformats.org/officeDocument/2006/relationships/slide" Target="slides/slide6.xml"/><Relationship Id="rId34" Type="http://schemas.openxmlformats.org/officeDocument/2006/relationships/font" Target="fonts/Lato-regular.fntdata"/><Relationship Id="rId15" Type="http://schemas.openxmlformats.org/officeDocument/2006/relationships/slide" Target="slides/slide9.xml"/><Relationship Id="rId37" Type="http://schemas.openxmlformats.org/officeDocument/2006/relationships/font" Target="fonts/Lato-boldItalic.fntdata"/><Relationship Id="rId14" Type="http://schemas.openxmlformats.org/officeDocument/2006/relationships/slide" Target="slides/slide8.xml"/><Relationship Id="rId36" Type="http://schemas.openxmlformats.org/officeDocument/2006/relationships/font" Target="fonts/Lat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0c4c213a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0c4c213a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c4c213a8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0c4c213a8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c4c213a84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0c4c213a84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0c5a02afa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0c5a02afa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 W -&gt; </a:t>
            </a:r>
            <a:r>
              <a:rPr lang="en-GB"/>
              <a:t>structural</a:t>
            </a:r>
            <a:r>
              <a:rPr lang="en-GB"/>
              <a:t> revision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0c5a02afa6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0c5a02afa6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c5a02afa6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c5a02afa6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c5a02afa6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0c5a02afa6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0c5a02afa6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0c5a02afa6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 1 2 4 7 10 13 16 18 19 20 distributions, likeness 70/30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0c5a02afa6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0c5a02afa6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0c5a02afa6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0c5a02afa6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d482d8822b_6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d482d8822b_6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0c5a02afa6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0c5a02afa6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0c5a02afa6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0c5a02afa6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c5a02afa6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0c5a02afa6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0c5a02afa6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0c5a02afa6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0c5a02afa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0c5a02afa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0c5a02afa6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0c5a02afa6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0c5a02afa6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0c5a02afa6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d482d8822b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d482d8822b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d482d8822b_1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d482d8822b_1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0c9f17e29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0c9f17e29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0c5a02afa6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0c5a02afa6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FWC07JGEX3ZZ-6Eorr60Up99ZAKDfyBg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550" y="1322450"/>
            <a:ext cx="2403899" cy="24038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2979901" y="4439775"/>
            <a:ext cx="31842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Afon Khari, Xaver Weidinger, Yifan Luo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October 21st, 2024</a:t>
            </a:r>
            <a:endParaRPr/>
          </a:p>
        </p:txBody>
      </p:sp>
      <p:sp>
        <p:nvSpPr>
          <p:cNvPr id="88" name="Google Shape;88;p13"/>
          <p:cNvSpPr txBox="1"/>
          <p:nvPr>
            <p:ph type="ctrTitle"/>
          </p:nvPr>
        </p:nvSpPr>
        <p:spPr>
          <a:xfrm>
            <a:off x="729450" y="1322450"/>
            <a:ext cx="549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The Emergence of </a:t>
            </a:r>
            <a:r>
              <a:rPr lang="en-GB" sz="4000">
                <a:solidFill>
                  <a:srgbClr val="FF9900"/>
                </a:solidFill>
              </a:rPr>
              <a:t>Ethnocentrism</a:t>
            </a:r>
            <a:r>
              <a:rPr lang="en-GB" sz="4000"/>
              <a:t> i</a:t>
            </a:r>
            <a:r>
              <a:rPr lang="en-GB" sz="4000"/>
              <a:t>n</a:t>
            </a:r>
            <a:r>
              <a:rPr lang="en-GB" sz="4000"/>
              <a:t> Prisoner’s Dilemma</a:t>
            </a:r>
            <a:endParaRPr sz="4000"/>
          </a:p>
        </p:txBody>
      </p:sp>
      <p:sp>
        <p:nvSpPr>
          <p:cNvPr id="89" name="Google Shape;89;p13"/>
          <p:cNvSpPr txBox="1"/>
          <p:nvPr/>
        </p:nvSpPr>
        <p:spPr>
          <a:xfrm>
            <a:off x="729450" y="3452150"/>
            <a:ext cx="345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 </a:t>
            </a:r>
            <a:r>
              <a:rPr b="1" i="1" lang="en-GB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Complexity Science</a:t>
            </a:r>
            <a:r>
              <a:rPr b="1" lang="en-GB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Course Project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github.com/Beckinetic/ethnocentrism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92575" y="2403900"/>
            <a:ext cx="11589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9900"/>
                </a:solidFill>
                <a:latin typeface="Raleway"/>
                <a:ea typeface="Raleway"/>
                <a:cs typeface="Raleway"/>
                <a:sym typeface="Raleway"/>
              </a:rPr>
              <a:t>(And other types)</a:t>
            </a:r>
            <a:endParaRPr b="1" sz="900">
              <a:solidFill>
                <a:srgbClr val="FF99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Ethnocentrism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727650" y="1853850"/>
            <a:ext cx="7688700" cy="9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“T</a:t>
            </a:r>
            <a:r>
              <a:rPr lang="en-GB"/>
              <a:t>he attitude that one's own </a:t>
            </a:r>
            <a:r>
              <a:rPr i="1" lang="en-GB"/>
              <a:t>group</a:t>
            </a:r>
            <a:r>
              <a:rPr lang="en-GB"/>
              <a:t>, </a:t>
            </a:r>
            <a:r>
              <a:rPr i="1" lang="en-GB"/>
              <a:t>ethnicity, or nationality</a:t>
            </a:r>
            <a:r>
              <a:rPr lang="en-GB"/>
              <a:t> is </a:t>
            </a:r>
            <a:r>
              <a:rPr i="1" lang="en-GB"/>
              <a:t>superior</a:t>
            </a:r>
            <a:r>
              <a:rPr lang="en-GB"/>
              <a:t> to others”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Extended definition in our research</a:t>
            </a:r>
            <a:r>
              <a:rPr lang="en-GB"/>
              <a:t>: Ethnocentrism is the tendency to cooperate </a:t>
            </a:r>
            <a:r>
              <a:rPr lang="en-GB"/>
              <a:t>(“</a:t>
            </a:r>
            <a:r>
              <a:rPr b="1" lang="en-GB"/>
              <a:t>C”</a:t>
            </a:r>
            <a:r>
              <a:rPr lang="en-GB"/>
              <a:t>)</a:t>
            </a:r>
            <a:r>
              <a:rPr lang="en-GB"/>
              <a:t> with in-group agents, and to betray out-group agents (“to defect”, </a:t>
            </a:r>
            <a:r>
              <a:rPr b="1" lang="en-GB"/>
              <a:t>“D”</a:t>
            </a:r>
            <a:r>
              <a:rPr lang="en-GB"/>
              <a:t>) in PD-game (Prisoner’s Dilemma-game)</a:t>
            </a:r>
            <a:endParaRPr/>
          </a:p>
        </p:txBody>
      </p:sp>
      <p:graphicFrame>
        <p:nvGraphicFramePr>
          <p:cNvPr id="97" name="Google Shape;97;p14"/>
          <p:cNvGraphicFramePr/>
          <p:nvPr/>
        </p:nvGraphicFramePr>
        <p:xfrm>
          <a:off x="1198475" y="348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{CCA014E7-0FD9-44B6-8FD9-53D5B2F5BF6F}</a:tableStyleId>
              </a:tblPr>
              <a:tblGrid>
                <a:gridCol w="800950"/>
                <a:gridCol w="800950"/>
                <a:gridCol w="80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Co-op</a:t>
                      </a:r>
                      <a:endParaRPr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Defect</a:t>
                      </a:r>
                      <a:endParaRPr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Co-op</a:t>
                      </a:r>
                      <a:endParaRPr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-γ</a:t>
                      </a:r>
                      <a:endParaRPr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Defect</a:t>
                      </a:r>
                      <a:endParaRPr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1+γ</a:t>
                      </a:r>
                      <a:endParaRPr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8" name="Google Shape;98;p14"/>
          <p:cNvSpPr txBox="1"/>
          <p:nvPr/>
        </p:nvSpPr>
        <p:spPr>
          <a:xfrm>
            <a:off x="638900" y="4051750"/>
            <a:ext cx="50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You</a:t>
            </a:r>
            <a:endParaRPr i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999425" y="3068138"/>
            <a:ext cx="159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other Prisoner</a:t>
            </a:r>
            <a:endParaRPr i="1"/>
          </a:p>
        </p:txBody>
      </p:sp>
      <p:graphicFrame>
        <p:nvGraphicFramePr>
          <p:cNvPr id="100" name="Google Shape;100;p14"/>
          <p:cNvGraphicFramePr/>
          <p:nvPr/>
        </p:nvGraphicFramePr>
        <p:xfrm>
          <a:off x="3870888" y="316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{CCA014E7-0FD9-44B6-8FD9-53D5B2F5BF6F}</a:tableStyleId>
              </a:tblPr>
              <a:tblGrid>
                <a:gridCol w="1013950"/>
                <a:gridCol w="1110975"/>
                <a:gridCol w="1838825"/>
              </a:tblGrid>
              <a:tr h="38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 </a:t>
                      </a:r>
                      <a:r>
                        <a:rPr i="1" lang="en-GB" sz="12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In-groups</a:t>
                      </a:r>
                      <a:endParaRPr i="1" sz="12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 </a:t>
                      </a:r>
                      <a:r>
                        <a:rPr i="1" lang="en-GB" sz="12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Out-groups</a:t>
                      </a:r>
                      <a:endParaRPr i="1" sz="12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Your Type</a:t>
                      </a:r>
                      <a:endParaRPr sz="12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5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Co-op</a:t>
                      </a:r>
                      <a:endParaRPr sz="12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Co-op</a:t>
                      </a:r>
                      <a:endParaRPr sz="12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Altruist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4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Co-op</a:t>
                      </a:r>
                      <a:endParaRPr sz="12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Defect</a:t>
                      </a:r>
                      <a:endParaRPr sz="12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highlight>
                            <a:schemeClr val="accent3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Ethnocentrist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accent3"/>
                        </a:highlight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4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Defect</a:t>
                      </a:r>
                      <a:endParaRPr sz="12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Co-op</a:t>
                      </a:r>
                      <a:endParaRPr sz="12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highlight>
                            <a:srgbClr val="4A86E8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Cosmopolitan</a:t>
                      </a:r>
                      <a:endParaRPr sz="1200">
                        <a:solidFill>
                          <a:schemeClr val="lt1"/>
                        </a:solidFill>
                        <a:highlight>
                          <a:srgbClr val="4A86E8"/>
                        </a:highlight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4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Defect</a:t>
                      </a:r>
                      <a:endParaRPr sz="12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Defect</a:t>
                      </a:r>
                      <a:endParaRPr sz="12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highlight>
                            <a:srgbClr val="9900FF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Egoist</a:t>
                      </a:r>
                      <a:endParaRPr sz="1200">
                        <a:solidFill>
                          <a:schemeClr val="lt1"/>
                        </a:solidFill>
                        <a:highlight>
                          <a:srgbClr val="9900FF"/>
                        </a:highlight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1" name="Google Shape;101;p14"/>
          <p:cNvSpPr txBox="1"/>
          <p:nvPr/>
        </p:nvSpPr>
        <p:spPr>
          <a:xfrm>
            <a:off x="1046000" y="4712150"/>
            <a:ext cx="270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γ (gamma) is also called “cooperation barrier”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885825" y="3605450"/>
            <a:ext cx="1349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Lacking experience of interacting with either in-groups or out-groups: </a:t>
            </a:r>
            <a:r>
              <a:rPr lang="en-GB" sz="1000">
                <a:solidFill>
                  <a:schemeClr val="lt1"/>
                </a:solidFill>
                <a:highlight>
                  <a:schemeClr val="accent1"/>
                </a:highlight>
                <a:latin typeface="Lato"/>
                <a:ea typeface="Lato"/>
                <a:cs typeface="Lato"/>
                <a:sym typeface="Lato"/>
              </a:rPr>
              <a:t>Undefined</a:t>
            </a:r>
            <a:endParaRPr sz="1000">
              <a:solidFill>
                <a:schemeClr val="lt1"/>
              </a:solidFill>
              <a:highlight>
                <a:schemeClr val="accen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0" y="0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525A5B"/>
                </a:solidFill>
                <a:latin typeface="Lato"/>
                <a:ea typeface="Lato"/>
                <a:cs typeface="Lato"/>
                <a:sym typeface="Lato"/>
              </a:rPr>
              <a:t>Merriam-Webster. (n.d.). Ethnocentrism. In </a:t>
            </a:r>
            <a:r>
              <a:rPr i="1" lang="en-GB" sz="800">
                <a:solidFill>
                  <a:srgbClr val="525A5B"/>
                </a:solidFill>
                <a:latin typeface="Lato"/>
                <a:ea typeface="Lato"/>
                <a:cs typeface="Lato"/>
                <a:sym typeface="Lato"/>
              </a:rPr>
              <a:t>Merriam-Webster.com dictionary</a:t>
            </a:r>
            <a:r>
              <a:rPr lang="en-GB" sz="800">
                <a:solidFill>
                  <a:srgbClr val="525A5B"/>
                </a:solidFill>
                <a:latin typeface="Lato"/>
                <a:ea typeface="Lato"/>
                <a:cs typeface="Lato"/>
                <a:sym typeface="Lato"/>
              </a:rPr>
              <a:t>. Retrieved October 21, 2024, from https://www.merriam-webster.com/dictionary/ethnocentrism</a:t>
            </a:r>
            <a:endParaRPr sz="800">
              <a:solidFill>
                <a:srgbClr val="525A5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</a:t>
            </a:r>
            <a:r>
              <a:rPr lang="en-GB"/>
              <a:t>Agent-based Model</a:t>
            </a:r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981350"/>
            <a:ext cx="3935150" cy="26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4892800" y="2366800"/>
            <a:ext cx="4019400" cy="18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With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network ABM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we want to simulate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PD-game interaction based on social network structure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Group-membership induced social barriers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Co-evolution of PD-game strategies and network structure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Emergence of different types of agents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Model Part 1: </a:t>
            </a:r>
            <a:r>
              <a:rPr lang="en-GB">
                <a:solidFill>
                  <a:schemeClr val="dk2"/>
                </a:solidFill>
              </a:rPr>
              <a:t>The agent and link properties and the PD game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4793200" y="323475"/>
            <a:ext cx="7683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Agent </a:t>
            </a: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i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724950" y="2770125"/>
            <a:ext cx="7683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Agent </a:t>
            </a: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j</a:t>
            </a:r>
            <a:endParaRPr i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929100" y="2410125"/>
            <a:ext cx="360000" cy="3600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4456200" y="373725"/>
            <a:ext cx="360000" cy="3600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 rot="-1751690">
            <a:off x="1593168" y="739850"/>
            <a:ext cx="1166712" cy="460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Link ij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6"/>
          <p:cNvSpPr/>
          <p:nvPr/>
        </p:nvSpPr>
        <p:spPr>
          <a:xfrm rot="-5400000">
            <a:off x="5498800" y="-1558450"/>
            <a:ext cx="129900" cy="4814700"/>
          </a:xfrm>
          <a:prstGeom prst="rightBrace">
            <a:avLst>
              <a:gd fmla="val 50000" name="adj1"/>
              <a:gd fmla="val 3063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2746950" y="913850"/>
            <a:ext cx="8451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Group Membership</a:t>
            </a:r>
            <a:endParaRPr b="1"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(major- / minority)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3603925" y="913850"/>
            <a:ext cx="12519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Likeness</a:t>
            </a:r>
            <a:r>
              <a:rPr baseline="30000" lang="en-GB" sz="10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*</a:t>
            </a:r>
            <a:endParaRPr b="1" baseline="30000" sz="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[to-in-group, to-out-group]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4793200" y="913850"/>
            <a:ext cx="12519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Strategies</a:t>
            </a:r>
            <a:r>
              <a:rPr baseline="30000" lang="en-GB" sz="100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†</a:t>
            </a:r>
            <a:endParaRPr b="1" baseline="30000" sz="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[to-in-group, to-out-group]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6045100" y="913850"/>
            <a:ext cx="8451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Communality</a:t>
            </a:r>
            <a:r>
              <a:rPr baseline="30000" lang="en-GB" sz="1000">
                <a:solidFill>
                  <a:schemeClr val="accent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‡</a:t>
            </a:r>
            <a:endParaRPr b="1" baseline="30000" sz="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(numeric)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7081925" y="913850"/>
            <a:ext cx="10188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Type</a:t>
            </a:r>
            <a:endParaRPr b="1"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(Altruist/Ethnocentrist/Cosmopolitan/Egoist)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7" name="Google Shape;127;p16"/>
          <p:cNvCxnSpPr>
            <a:stCxn id="119" idx="2"/>
            <a:endCxn id="118" idx="0"/>
          </p:cNvCxnSpPr>
          <p:nvPr/>
        </p:nvCxnSpPr>
        <p:spPr>
          <a:xfrm flipH="1">
            <a:off x="1109100" y="553725"/>
            <a:ext cx="3347100" cy="1856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" name="Google Shape;128;p16"/>
          <p:cNvSpPr/>
          <p:nvPr/>
        </p:nvSpPr>
        <p:spPr>
          <a:xfrm rot="10800000">
            <a:off x="1493250" y="2145450"/>
            <a:ext cx="129900" cy="1760700"/>
          </a:xfrm>
          <a:prstGeom prst="rightBrace">
            <a:avLst>
              <a:gd fmla="val 50000" name="adj1"/>
              <a:gd fmla="val 7364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623150" y="1970375"/>
            <a:ext cx="845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9E9E9E"/>
                </a:solidFill>
                <a:latin typeface="Lato"/>
                <a:ea typeface="Lato"/>
                <a:cs typeface="Lato"/>
                <a:sym typeface="Lato"/>
              </a:rPr>
              <a:t>Group </a:t>
            </a:r>
            <a:r>
              <a:rPr lang="en-GB" sz="800">
                <a:solidFill>
                  <a:srgbClr val="9E9E9E"/>
                </a:solidFill>
                <a:latin typeface="Lato"/>
                <a:ea typeface="Lato"/>
                <a:cs typeface="Lato"/>
                <a:sym typeface="Lato"/>
              </a:rPr>
              <a:t>Membership</a:t>
            </a:r>
            <a:endParaRPr sz="800">
              <a:solidFill>
                <a:srgbClr val="9E9E9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623150" y="2503950"/>
            <a:ext cx="845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9E9E9E"/>
                </a:solidFill>
                <a:latin typeface="Lato"/>
                <a:ea typeface="Lato"/>
                <a:cs typeface="Lato"/>
                <a:sym typeface="Lato"/>
              </a:rPr>
              <a:t>Likeness</a:t>
            </a:r>
            <a:endParaRPr sz="800">
              <a:solidFill>
                <a:srgbClr val="9E9E9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1623150" y="2957775"/>
            <a:ext cx="845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9E9E9E"/>
                </a:solidFill>
                <a:latin typeface="Lato"/>
                <a:ea typeface="Lato"/>
                <a:cs typeface="Lato"/>
                <a:sym typeface="Lato"/>
              </a:rPr>
              <a:t>Strategies</a:t>
            </a:r>
            <a:endParaRPr sz="800">
              <a:solidFill>
                <a:srgbClr val="9E9E9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1623150" y="3343125"/>
            <a:ext cx="845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9E9E9E"/>
                </a:solidFill>
                <a:latin typeface="Lato"/>
                <a:ea typeface="Lato"/>
                <a:cs typeface="Lato"/>
                <a:sym typeface="Lato"/>
              </a:rPr>
              <a:t>Communality</a:t>
            </a:r>
            <a:endParaRPr sz="800">
              <a:solidFill>
                <a:srgbClr val="9E9E9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623150" y="3728475"/>
            <a:ext cx="845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9E9E9E"/>
                </a:solidFill>
                <a:latin typeface="Lato"/>
                <a:ea typeface="Lato"/>
                <a:cs typeface="Lato"/>
                <a:sym typeface="Lato"/>
              </a:rPr>
              <a:t>Type</a:t>
            </a:r>
            <a:endParaRPr sz="800">
              <a:solidFill>
                <a:srgbClr val="9E9E9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 rot="-1750032">
            <a:off x="1754039" y="1149305"/>
            <a:ext cx="845166" cy="3600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Interaction History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2468250" y="1570825"/>
            <a:ext cx="2426100" cy="7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1.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Play game? 🎮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= min(likeness</a:t>
            </a:r>
            <a:r>
              <a:rPr baseline="-25000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ij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likeness</a:t>
            </a:r>
            <a:r>
              <a:rPr baseline="-25000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ji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092525" y="2215132"/>
            <a:ext cx="2426100" cy="112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PD Game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🎲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ooperate or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efect?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Select </a:t>
            </a:r>
            <a:r>
              <a:rPr b="1"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strategy</a:t>
            </a:r>
            <a:endParaRPr b="1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2. Consider </a:t>
            </a:r>
            <a:r>
              <a:rPr b="1"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history</a:t>
            </a:r>
            <a:endParaRPr b="1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3. Choose </a:t>
            </a:r>
            <a:r>
              <a:rPr b="1"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action</a:t>
            </a:r>
            <a:endParaRPr b="1"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7" name="Google Shape;137;p16"/>
          <p:cNvCxnSpPr>
            <a:stCxn id="135" idx="2"/>
            <a:endCxn id="136" idx="1"/>
          </p:cNvCxnSpPr>
          <p:nvPr/>
        </p:nvCxnSpPr>
        <p:spPr>
          <a:xfrm flipH="1" rot="-5400000">
            <a:off x="3645900" y="2332525"/>
            <a:ext cx="482100" cy="411300"/>
          </a:xfrm>
          <a:prstGeom prst="curved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6"/>
          <p:cNvSpPr txBox="1"/>
          <p:nvPr/>
        </p:nvSpPr>
        <p:spPr>
          <a:xfrm>
            <a:off x="3245375" y="2391750"/>
            <a:ext cx="595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Yay!</a:t>
            </a:r>
            <a:endParaRPr i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4909150" y="1322675"/>
            <a:ext cx="13092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Always cooperate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Always defect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We added new ones!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4549725" y="3509825"/>
            <a:ext cx="15117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Payoff for Agent j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💵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769975" y="2538075"/>
            <a:ext cx="15117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Payoff for Agent i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💶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2" name="Google Shape;142;p16"/>
          <p:cNvCxnSpPr>
            <a:stCxn id="136" idx="2"/>
            <a:endCxn id="140" idx="0"/>
          </p:cNvCxnSpPr>
          <p:nvPr/>
        </p:nvCxnSpPr>
        <p:spPr>
          <a:xfrm>
            <a:off x="5305575" y="3343132"/>
            <a:ext cx="0" cy="16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16"/>
          <p:cNvCxnSpPr>
            <a:stCxn id="136" idx="3"/>
            <a:endCxn id="141" idx="1"/>
          </p:cNvCxnSpPr>
          <p:nvPr/>
        </p:nvCxnSpPr>
        <p:spPr>
          <a:xfrm>
            <a:off x="6518625" y="2779132"/>
            <a:ext cx="251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6"/>
          <p:cNvCxnSpPr>
            <a:endCxn id="132" idx="3"/>
          </p:cNvCxnSpPr>
          <p:nvPr/>
        </p:nvCxnSpPr>
        <p:spPr>
          <a:xfrm rot="10800000">
            <a:off x="2468250" y="3523125"/>
            <a:ext cx="2093100" cy="237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6"/>
          <p:cNvCxnSpPr>
            <a:endCxn id="125" idx="2"/>
          </p:cNvCxnSpPr>
          <p:nvPr/>
        </p:nvCxnSpPr>
        <p:spPr>
          <a:xfrm flipH="1" rot="5400000">
            <a:off x="6457300" y="1451300"/>
            <a:ext cx="1090500" cy="1069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16"/>
          <p:cNvSpPr txBox="1"/>
          <p:nvPr/>
        </p:nvSpPr>
        <p:spPr>
          <a:xfrm rot="2349568">
            <a:off x="6559815" y="3348056"/>
            <a:ext cx="1181984" cy="2078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Action record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7537450" y="3755825"/>
            <a:ext cx="1178010" cy="627912"/>
          </a:xfrm>
          <a:prstGeom prst="flowChartMulti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History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Max 100 rounds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8" name="Google Shape;148;p16"/>
          <p:cNvCxnSpPr>
            <a:endCxn id="147" idx="1"/>
          </p:cNvCxnSpPr>
          <p:nvPr/>
        </p:nvCxnSpPr>
        <p:spPr>
          <a:xfrm>
            <a:off x="6534550" y="3340181"/>
            <a:ext cx="1002900" cy="729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787500" y="4715875"/>
            <a:ext cx="7697400" cy="42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GB" sz="1000">
                <a:solidFill>
                  <a:srgbClr val="000000"/>
                </a:solidFill>
                <a:highlight>
                  <a:srgbClr val="FFFFFF"/>
                </a:highlight>
              </a:rPr>
              <a:t>*</a:t>
            </a:r>
            <a:r>
              <a:rPr lang="en-GB" sz="1000">
                <a:solidFill>
                  <a:schemeClr val="dk2"/>
                </a:solidFill>
              </a:rPr>
              <a:t>Likeness is shared by group members </a:t>
            </a:r>
            <a:r>
              <a:rPr baseline="30000" lang="en-GB" sz="1000">
                <a:highlight>
                  <a:srgbClr val="FFFFFF"/>
                </a:highlight>
              </a:rPr>
              <a:t>†</a:t>
            </a:r>
            <a:r>
              <a:rPr lang="en-GB" sz="1000">
                <a:solidFill>
                  <a:schemeClr val="dk2"/>
                </a:solidFill>
              </a:rPr>
              <a:t>Strategies are randomly initialised according to likeness </a:t>
            </a:r>
            <a:r>
              <a:rPr baseline="30000" lang="en-GB" sz="1000">
                <a:highlight>
                  <a:srgbClr val="FFFFFF"/>
                </a:highlight>
              </a:rPr>
              <a:t>‡</a:t>
            </a:r>
            <a:r>
              <a:rPr lang="en-GB" sz="1000">
                <a:solidFill>
                  <a:schemeClr val="dk2"/>
                </a:solidFill>
              </a:rPr>
              <a:t>Communality is initialised as 0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0" y="0"/>
            <a:ext cx="914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Lato"/>
                <a:ea typeface="Lato"/>
                <a:cs typeface="Lato"/>
                <a:sym typeface="Lato"/>
              </a:rPr>
              <a:t>Lemos, C.M., Gore, R.J., Lessard-Phillips, L. et al. A network agent-based model of ethnocentrism and intergroup cooperation. Qual Quant 54, 463–489 (2020). https://doi.org/10.1007/s11135-019-00856-y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Model </a:t>
            </a:r>
            <a:r>
              <a:rPr lang="en-GB">
                <a:solidFill>
                  <a:schemeClr val="dk2"/>
                </a:solidFill>
              </a:rPr>
              <a:t>Part 2: Strategic or Structural Revision After the PD Game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16850" y="2084425"/>
            <a:ext cx="360000" cy="3600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512700" y="2444425"/>
            <a:ext cx="7683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Agent </a:t>
            </a: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endParaRPr i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8" name="Google Shape;158;p17"/>
          <p:cNvCxnSpPr>
            <a:stCxn id="156" idx="6"/>
            <a:endCxn id="159" idx="1"/>
          </p:cNvCxnSpPr>
          <p:nvPr/>
        </p:nvCxnSpPr>
        <p:spPr>
          <a:xfrm>
            <a:off x="1076850" y="2264425"/>
            <a:ext cx="1333200" cy="147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60" name="Google Shape;160;p17"/>
          <p:cNvCxnSpPr>
            <a:stCxn id="156" idx="6"/>
            <a:endCxn id="161" idx="1"/>
          </p:cNvCxnSpPr>
          <p:nvPr/>
        </p:nvCxnSpPr>
        <p:spPr>
          <a:xfrm flipH="1" rot="10800000">
            <a:off x="1076850" y="884125"/>
            <a:ext cx="1333200" cy="138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62" name="Google Shape;162;p17"/>
          <p:cNvSpPr/>
          <p:nvPr/>
        </p:nvSpPr>
        <p:spPr>
          <a:xfrm>
            <a:off x="1772750" y="1795525"/>
            <a:ext cx="2505300" cy="93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1.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Revise Strategy or Structure?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aseline="-25000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structure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= W / 20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aseline="-25000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strategy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= 1 - W / 20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1513100" y="2688925"/>
            <a:ext cx="302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 ∈ [0, 20]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 is also called structural adaptivity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17"/>
          <p:cNvSpPr/>
          <p:nvPr/>
        </p:nvSpPr>
        <p:spPr>
          <a:xfrm rot="8286989">
            <a:off x="1478496" y="2152533"/>
            <a:ext cx="234116" cy="32739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17"/>
          <p:cNvSpPr/>
          <p:nvPr/>
        </p:nvSpPr>
        <p:spPr>
          <a:xfrm rot="-2425565">
            <a:off x="1307747" y="2152568"/>
            <a:ext cx="234091" cy="327318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2410000" y="239975"/>
            <a:ext cx="2127600" cy="128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2. Find neighbor Agent </a:t>
            </a:r>
            <a:r>
              <a:rPr b="1" i="1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j</a:t>
            </a:r>
            <a:r>
              <a:rPr b="1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that</a:t>
            </a:r>
            <a:endParaRPr b="1"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Had PD game last round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2. Has the most neighbors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410000" y="3160700"/>
            <a:ext cx="2127600" cy="116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2. Select random neighbor Agent </a:t>
            </a:r>
            <a:r>
              <a:rPr b="1" i="1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j</a:t>
            </a:r>
            <a:r>
              <a:rPr b="1" baseline="30000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*</a:t>
            </a:r>
            <a:r>
              <a:rPr b="1"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see if it</a:t>
            </a:r>
            <a:endParaRPr b="1"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1. betrayed me in the last round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2. did not have game last round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 rot="-604">
            <a:off x="345152" y="1127532"/>
            <a:ext cx="17064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Strategic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Revision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 rot="-604">
            <a:off x="345152" y="3118095"/>
            <a:ext cx="17064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Structural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Revision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 rot="-514">
            <a:off x="4758300" y="566105"/>
            <a:ext cx="2007300" cy="63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Copy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strategies?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 = (1 + exp(β</a:t>
            </a:r>
            <a:r>
              <a:rPr lang="en-GB" sz="1300">
                <a:solidFill>
                  <a:schemeClr val="accent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⋅(C</a:t>
            </a:r>
            <a:r>
              <a:rPr baseline="-25000" lang="en-GB" sz="1300">
                <a:solidFill>
                  <a:schemeClr val="accent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GB" sz="1300">
                <a:solidFill>
                  <a:schemeClr val="accent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- C</a:t>
            </a:r>
            <a:r>
              <a:rPr baseline="-25000" lang="en-GB" sz="1300">
                <a:solidFill>
                  <a:schemeClr val="accent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j</a:t>
            </a:r>
            <a:r>
              <a:rPr lang="en-GB" sz="1300">
                <a:solidFill>
                  <a:schemeClr val="accent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)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))</a:t>
            </a:r>
            <a:r>
              <a:rPr baseline="30000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-1</a:t>
            </a:r>
            <a:endParaRPr baseline="30000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 rot="-514">
            <a:off x="4758300" y="3404756"/>
            <a:ext cx="2007300" cy="67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Cut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link?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 = (1 + exp(β</a:t>
            </a:r>
            <a:r>
              <a:rPr lang="en-GB" sz="1300">
                <a:solidFill>
                  <a:schemeClr val="accent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⋅(C</a:t>
            </a:r>
            <a:r>
              <a:rPr baseline="-25000" lang="en-GB" sz="1300">
                <a:solidFill>
                  <a:schemeClr val="accent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j</a:t>
            </a:r>
            <a:r>
              <a:rPr lang="en-GB" sz="1300">
                <a:solidFill>
                  <a:schemeClr val="accent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 - C</a:t>
            </a:r>
            <a:r>
              <a:rPr baseline="-25000" lang="en-GB" sz="1300">
                <a:solidFill>
                  <a:schemeClr val="accent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GB" sz="1300">
                <a:solidFill>
                  <a:schemeClr val="accent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)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))</a:t>
            </a:r>
            <a:r>
              <a:rPr baseline="30000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-1</a:t>
            </a:r>
            <a:endParaRPr baseline="30000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17"/>
          <p:cNvCxnSpPr>
            <a:stCxn id="161" idx="3"/>
            <a:endCxn id="168" idx="1"/>
          </p:cNvCxnSpPr>
          <p:nvPr/>
        </p:nvCxnSpPr>
        <p:spPr>
          <a:xfrm flipH="1" rot="10800000">
            <a:off x="4537600" y="881825"/>
            <a:ext cx="2208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7"/>
          <p:cNvCxnSpPr>
            <a:stCxn id="159" idx="3"/>
            <a:endCxn id="169" idx="1"/>
          </p:cNvCxnSpPr>
          <p:nvPr/>
        </p:nvCxnSpPr>
        <p:spPr>
          <a:xfrm flipH="1" rot="10800000">
            <a:off x="4537600" y="3740450"/>
            <a:ext cx="2208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17"/>
          <p:cNvSpPr txBox="1"/>
          <p:nvPr/>
        </p:nvSpPr>
        <p:spPr>
          <a:xfrm>
            <a:off x="4769800" y="1701025"/>
            <a:ext cx="2007300" cy="1288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 denotes communality; </a:t>
            </a: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β = .002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Layman’s interpretation</a:t>
            </a: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Copy the strategies of high-communality agents, cut the link with the low-communality agents.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7"/>
          <p:cNvSpPr txBox="1"/>
          <p:nvPr>
            <p:ph idx="1" type="body"/>
          </p:nvPr>
        </p:nvSpPr>
        <p:spPr>
          <a:xfrm>
            <a:off x="799300" y="4716000"/>
            <a:ext cx="7697400" cy="42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GB" sz="1000">
                <a:solidFill>
                  <a:srgbClr val="000000"/>
                </a:solidFill>
                <a:highlight>
                  <a:srgbClr val="FFFFFF"/>
                </a:highlight>
              </a:rPr>
              <a:t>*</a:t>
            </a:r>
            <a:r>
              <a:rPr lang="en-GB" sz="1000">
                <a:solidFill>
                  <a:schemeClr val="dk2"/>
                </a:solidFill>
              </a:rPr>
              <a:t>Agent j must have more than 1 link to avoid itself disconnecting from the network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74" name="Google Shape;174;p17"/>
          <p:cNvSpPr txBox="1"/>
          <p:nvPr/>
        </p:nvSpPr>
        <p:spPr>
          <a:xfrm rot="-469">
            <a:off x="6885950" y="3405504"/>
            <a:ext cx="2199600" cy="67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Cut link</a:t>
            </a:r>
            <a:r>
              <a:rPr b="1" baseline="-25000" lang="en-GB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ij</a:t>
            </a:r>
            <a:r>
              <a:rPr b="1" lang="en-GB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and create a new link </a:t>
            </a:r>
            <a:r>
              <a:rPr lang="en-GB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with Agent </a:t>
            </a:r>
            <a:r>
              <a:rPr i="1" lang="en-GB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j</a:t>
            </a:r>
            <a:r>
              <a:rPr lang="en-GB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’s random neighbor Agent </a:t>
            </a:r>
            <a:r>
              <a:rPr i="1" lang="en-GB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endParaRPr baseline="30000" i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 rot="-469">
            <a:off x="6885950" y="566122"/>
            <a:ext cx="2199600" cy="63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Strategies copied!</a:t>
            </a:r>
            <a:endParaRPr baseline="30000" i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6" name="Google Shape;176;p17"/>
          <p:cNvCxnSpPr>
            <a:endCxn id="175" idx="1"/>
          </p:cNvCxnSpPr>
          <p:nvPr/>
        </p:nvCxnSpPr>
        <p:spPr>
          <a:xfrm>
            <a:off x="6768950" y="873322"/>
            <a:ext cx="1170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17"/>
          <p:cNvCxnSpPr>
            <a:stCxn id="169" idx="3"/>
            <a:endCxn id="174" idx="1"/>
          </p:cNvCxnSpPr>
          <p:nvPr/>
        </p:nvCxnSpPr>
        <p:spPr>
          <a:xfrm>
            <a:off x="6765600" y="3740156"/>
            <a:ext cx="1203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/>
        </p:nvSpPr>
        <p:spPr>
          <a:xfrm>
            <a:off x="5200100" y="568850"/>
            <a:ext cx="3222300" cy="3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Global parameters 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γ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(PD-game cooperation barrier)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 (structural adaptivity)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Properties of agents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Likeness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Things to observe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9E9E9E"/>
                </a:solidFill>
                <a:latin typeface="Lato"/>
                <a:ea typeface="Lato"/>
                <a:cs typeface="Lato"/>
                <a:sym typeface="Lato"/>
              </a:rPr>
              <a:t>Strategies</a:t>
            </a:r>
            <a:endParaRPr sz="1300">
              <a:solidFill>
                <a:srgbClr val="9E9E9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9E9E9E"/>
                </a:solidFill>
                <a:latin typeface="Lato"/>
                <a:ea typeface="Lato"/>
                <a:cs typeface="Lato"/>
                <a:sym typeface="Lato"/>
              </a:rPr>
              <a:t>Network Structure</a:t>
            </a:r>
            <a:endParaRPr sz="1300">
              <a:solidFill>
                <a:srgbClr val="9E9E9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9E9E9E"/>
                </a:solidFill>
                <a:latin typeface="Lato"/>
                <a:ea typeface="Lato"/>
                <a:cs typeface="Lato"/>
                <a:sym typeface="Lato"/>
              </a:rPr>
              <a:t>Communality</a:t>
            </a:r>
            <a:endParaRPr sz="1300">
              <a:solidFill>
                <a:srgbClr val="9E9E9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Agent types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7925625" y="3052125"/>
            <a:ext cx="1178010" cy="627912"/>
          </a:xfrm>
          <a:prstGeom prst="flowChartMulti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History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Max </a:t>
            </a: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100 rounds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4" name="Google Shape;184;p18"/>
          <p:cNvCxnSpPr>
            <a:stCxn id="183" idx="1"/>
          </p:cNvCxnSpPr>
          <p:nvPr/>
        </p:nvCxnSpPr>
        <p:spPr>
          <a:xfrm rot="10800000">
            <a:off x="6227325" y="2943681"/>
            <a:ext cx="1698300" cy="4224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lgDash"/>
            <a:round/>
            <a:headEnd len="med" w="med" type="none"/>
            <a:tailEnd len="med" w="med" type="triangle"/>
          </a:ln>
        </p:spPr>
      </p:cxnSp>
      <p:graphicFrame>
        <p:nvGraphicFramePr>
          <p:cNvPr id="185" name="Google Shape;185;p18"/>
          <p:cNvGraphicFramePr/>
          <p:nvPr/>
        </p:nvGraphicFramePr>
        <p:xfrm>
          <a:off x="5247725" y="324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{CCA014E7-0FD9-44B6-8FD9-53D5B2F5BF6F}</a:tableStyleId>
              </a:tblPr>
              <a:tblGrid>
                <a:gridCol w="815625"/>
                <a:gridCol w="815625"/>
                <a:gridCol w="815625"/>
              </a:tblGrid>
              <a:tr h="31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accent1"/>
                          </a:solidFill>
                        </a:rPr>
                        <a:t>In-groups</a:t>
                      </a:r>
                      <a:endParaRPr sz="8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accent1"/>
                          </a:solidFill>
                        </a:rPr>
                        <a:t>Out-groups</a:t>
                      </a:r>
                      <a:endParaRPr sz="8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1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≥ 50% 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Co-op</a:t>
                      </a:r>
                      <a:endParaRPr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≥ 50% 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Co-op</a:t>
                      </a:r>
                      <a:endParaRPr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Altruist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1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≥ 50% 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Co-op</a:t>
                      </a:r>
                      <a:endParaRPr sz="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≥ </a:t>
                      </a:r>
                      <a:r>
                        <a:rPr lang="en-GB" sz="8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50% </a:t>
                      </a:r>
                      <a:r>
                        <a:rPr lang="en-GB" sz="800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Defect</a:t>
                      </a:r>
                      <a:endParaRPr sz="8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highlight>
                            <a:schemeClr val="accent3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Ethnocentrist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1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≥</a:t>
                      </a:r>
                      <a:r>
                        <a:rPr lang="en-GB" sz="8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 50% </a:t>
                      </a:r>
                      <a:r>
                        <a:rPr lang="en-GB" sz="800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Defect</a:t>
                      </a:r>
                      <a:endParaRPr sz="8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≥ 50% 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Co-op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highlight>
                            <a:srgbClr val="4A86E8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Cosmopolitan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1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≥</a:t>
                      </a:r>
                      <a:r>
                        <a:rPr lang="en-GB" sz="8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 50% </a:t>
                      </a:r>
                      <a:r>
                        <a:rPr lang="en-GB" sz="800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Defect</a:t>
                      </a:r>
                      <a:endParaRPr sz="800">
                        <a:solidFill>
                          <a:schemeClr val="accent3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≥</a:t>
                      </a:r>
                      <a:r>
                        <a:rPr lang="en-GB" sz="800">
                          <a:solidFill>
                            <a:schemeClr val="accent1"/>
                          </a:solidFill>
                          <a:highlight>
                            <a:schemeClr val="lt1"/>
                          </a:highlight>
                        </a:rPr>
                        <a:t> 50% </a:t>
                      </a:r>
                      <a:r>
                        <a:rPr lang="en-GB" sz="800">
                          <a:solidFill>
                            <a:schemeClr val="accent3"/>
                          </a:solidFill>
                          <a:highlight>
                            <a:schemeClr val="lt1"/>
                          </a:highlight>
                        </a:rPr>
                        <a:t>Defect</a:t>
                      </a:r>
                      <a:endParaRPr sz="800">
                        <a:solidFill>
                          <a:schemeClr val="accent3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highlight>
                            <a:srgbClr val="9900FF"/>
                          </a:highlight>
                          <a:latin typeface="Lato"/>
                          <a:ea typeface="Lato"/>
                          <a:cs typeface="Lato"/>
                          <a:sym typeface="Lato"/>
                        </a:rPr>
                        <a:t>Egoist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86" name="Google Shape;186;p18" title="Sample-Simulation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113" y="405700"/>
            <a:ext cx="4877875" cy="365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1019100" y="4064100"/>
            <a:ext cx="32739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Sample Simulation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7794900" y="3878375"/>
            <a:ext cx="1349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Lacking experience of interacting with either in-groups or out-groups: </a:t>
            </a:r>
            <a:r>
              <a:rPr lang="en-GB" sz="1000">
                <a:solidFill>
                  <a:schemeClr val="lt1"/>
                </a:solidFill>
                <a:highlight>
                  <a:schemeClr val="accent1"/>
                </a:highlight>
                <a:latin typeface="Lato"/>
                <a:ea typeface="Lato"/>
                <a:cs typeface="Lato"/>
                <a:sym typeface="Lato"/>
              </a:rPr>
              <a:t>Undefined</a:t>
            </a:r>
            <a:endParaRPr sz="1000">
              <a:solidFill>
                <a:schemeClr val="lt1"/>
              </a:solidFill>
              <a:highlight>
                <a:schemeClr val="accent1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idx="1" type="body"/>
          </p:nvPr>
        </p:nvSpPr>
        <p:spPr>
          <a:xfrm>
            <a:off x="729450" y="21980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Research Question: </a:t>
            </a:r>
            <a:r>
              <a:rPr b="1" lang="en-GB">
                <a:highlight>
                  <a:srgbClr val="FFFF00"/>
                </a:highlight>
              </a:rPr>
              <a:t>How does γ and W influence the pattern of dominant agent types?</a:t>
            </a:r>
            <a:endParaRPr b="1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γ</a:t>
            </a:r>
            <a:r>
              <a:rPr lang="en-GB"/>
              <a:t>: [0 1 2 4 7 10 13 16 18 19 20]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</a:t>
            </a:r>
            <a:r>
              <a:rPr lang="en-GB"/>
              <a:t>: [0 1 2 4 7 10 13 16 18 19 20]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In-group Likeness</a:t>
            </a:r>
            <a:r>
              <a:rPr lang="en-GB"/>
              <a:t>: 0.7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Out-group Likeness</a:t>
            </a:r>
            <a:r>
              <a:rPr lang="en-GB"/>
              <a:t>: 0.3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Possible Strategies</a:t>
            </a:r>
            <a:r>
              <a:rPr lang="en-GB"/>
              <a:t>: [Always </a:t>
            </a:r>
            <a:r>
              <a:rPr b="1" lang="en-GB"/>
              <a:t>C</a:t>
            </a:r>
            <a:r>
              <a:rPr lang="en-GB"/>
              <a:t>ooperate, Always </a:t>
            </a:r>
            <a:r>
              <a:rPr b="1" lang="en-GB"/>
              <a:t>D</a:t>
            </a:r>
            <a:r>
              <a:rPr lang="en-GB"/>
              <a:t>efect] (</a:t>
            </a:r>
            <a:r>
              <a:rPr i="1" lang="en-GB"/>
              <a:t>Binary Strategies</a:t>
            </a:r>
            <a:r>
              <a:rPr lang="en-GB"/>
              <a:t>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Experiment 1: Base Model </a:t>
            </a:r>
            <a:r>
              <a:rPr lang="en-GB"/>
              <a:t>(adapted from Lemos et al., 2020)</a:t>
            </a:r>
            <a:endParaRPr/>
          </a:p>
        </p:txBody>
      </p:sp>
      <p:sp>
        <p:nvSpPr>
          <p:cNvPr id="195" name="Google Shape;195;p19"/>
          <p:cNvSpPr txBox="1"/>
          <p:nvPr>
            <p:ph idx="1" type="body"/>
          </p:nvPr>
        </p:nvSpPr>
        <p:spPr>
          <a:xfrm>
            <a:off x="729450" y="4070275"/>
            <a:ext cx="7688700" cy="10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Number of Agents</a:t>
            </a:r>
            <a:r>
              <a:rPr b="1" lang="en-GB" sz="1000">
                <a:solidFill>
                  <a:srgbClr val="B7B7B7"/>
                </a:solidFill>
              </a:rPr>
              <a:t>: </a:t>
            </a:r>
            <a:r>
              <a:rPr lang="en-GB" sz="1000">
                <a:solidFill>
                  <a:srgbClr val="B7B7B7"/>
                </a:solidFill>
              </a:rPr>
              <a:t>100 (80 majority, 20 minority)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Small World Network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Link Number: 2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Rewire Probability: 0.2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Simulation Length: 500 Ticks. All metrics </a:t>
            </a:r>
            <a:r>
              <a:rPr lang="en-GB" sz="1000">
                <a:solidFill>
                  <a:srgbClr val="B7B7B7"/>
                </a:solidFill>
              </a:rPr>
              <a:t>acquired</a:t>
            </a:r>
            <a:r>
              <a:rPr lang="en-GB" sz="1000">
                <a:solidFill>
                  <a:srgbClr val="B7B7B7"/>
                </a:solidFill>
              </a:rPr>
              <a:t> in the last tick.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Repetitions</a:t>
            </a:r>
            <a:r>
              <a:rPr lang="en-GB" sz="1000">
                <a:solidFill>
                  <a:srgbClr val="B7B7B7"/>
                </a:solidFill>
              </a:rPr>
              <a:t>: 20</a:t>
            </a:r>
            <a:endParaRPr sz="1000">
              <a:solidFill>
                <a:srgbClr val="B7B7B7"/>
              </a:solidFill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0" y="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Lato"/>
                <a:ea typeface="Lato"/>
                <a:cs typeface="Lato"/>
                <a:sym typeface="Lato"/>
              </a:rPr>
              <a:t>Lemos, C.M., Gore, R.J., Lessard-Phillips, L. et al. A network agent-based model of ethnocentrism and intergroup cooperation. Qual Quant 54, 463–489 (2020). https://doi.org/10.1007/s11135-019-00856-y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011000" y="2082175"/>
            <a:ext cx="3650100" cy="29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Key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Takeaway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Increasing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γ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induces defection, leading to the emergence of egoist dominance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Increasing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to a threshold (10~15) would promote the spread of the dominant type (structural &gt; strategic change)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However, when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exceeds the limit, the strategic revision is unlikely to happen, slowing down the propagation of the dominant type.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853851"/>
            <a:ext cx="4182989" cy="313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</a:t>
            </a:r>
            <a:endParaRPr/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325" y="2013925"/>
            <a:ext cx="3841777" cy="2881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50" y="2013925"/>
            <a:ext cx="3841777" cy="28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Experiment 2: Perturbation</a:t>
            </a:r>
            <a:endParaRPr/>
          </a:p>
        </p:txBody>
      </p:sp>
      <p:sp>
        <p:nvSpPr>
          <p:cNvPr id="216" name="Google Shape;216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Research Question:</a:t>
            </a:r>
            <a:r>
              <a:rPr b="1" lang="en-GB">
                <a:highlight>
                  <a:srgbClr val="FFFF00"/>
                </a:highlight>
              </a:rPr>
              <a:t> </a:t>
            </a:r>
            <a:r>
              <a:rPr b="1" lang="en-GB">
                <a:highlight>
                  <a:srgbClr val="FFFF00"/>
                </a:highlight>
              </a:rPr>
              <a:t>How does structural perturbation change the pattern of γ and W influence?</a:t>
            </a:r>
            <a:endParaRPr b="1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E9E9E"/>
                </a:solidFill>
              </a:rPr>
              <a:t>γ</a:t>
            </a:r>
            <a:r>
              <a:rPr lang="en-GB">
                <a:solidFill>
                  <a:srgbClr val="9E9E9E"/>
                </a:solidFill>
              </a:rPr>
              <a:t>: [0 1 2 4 7 10 13 16 18 19 20]</a:t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E9E9E"/>
                </a:solidFill>
              </a:rPr>
              <a:t>W</a:t>
            </a:r>
            <a:r>
              <a:rPr lang="en-GB">
                <a:solidFill>
                  <a:srgbClr val="9E9E9E"/>
                </a:solidFill>
              </a:rPr>
              <a:t>: [0 1 2 4 7 10 13 16 18 19 20]</a:t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E9E9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E9E9E"/>
                </a:solidFill>
              </a:rPr>
              <a:t>In-group Likeness</a:t>
            </a:r>
            <a:r>
              <a:rPr lang="en-GB">
                <a:solidFill>
                  <a:srgbClr val="9E9E9E"/>
                </a:solidFill>
              </a:rPr>
              <a:t>: 0.7</a:t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E9E9E"/>
                </a:solidFill>
              </a:rPr>
              <a:t>Out-group Likeness</a:t>
            </a:r>
            <a:r>
              <a:rPr lang="en-GB">
                <a:solidFill>
                  <a:srgbClr val="9E9E9E"/>
                </a:solidFill>
              </a:rPr>
              <a:t>: 0.3</a:t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E9E9E"/>
                </a:solidFill>
              </a:rPr>
              <a:t>Possible Strategies</a:t>
            </a:r>
            <a:r>
              <a:rPr lang="en-GB">
                <a:solidFill>
                  <a:srgbClr val="9E9E9E"/>
                </a:solidFill>
              </a:rPr>
              <a:t>: [Always </a:t>
            </a:r>
            <a:r>
              <a:rPr b="1" lang="en-GB">
                <a:solidFill>
                  <a:srgbClr val="9E9E9E"/>
                </a:solidFill>
              </a:rPr>
              <a:t>C</a:t>
            </a:r>
            <a:r>
              <a:rPr lang="en-GB">
                <a:solidFill>
                  <a:srgbClr val="9E9E9E"/>
                </a:solidFill>
              </a:rPr>
              <a:t>ooperate, Always </a:t>
            </a:r>
            <a:r>
              <a:rPr b="1" lang="en-GB">
                <a:solidFill>
                  <a:srgbClr val="9E9E9E"/>
                </a:solidFill>
              </a:rPr>
              <a:t>D</a:t>
            </a:r>
            <a:r>
              <a:rPr lang="en-GB">
                <a:solidFill>
                  <a:srgbClr val="9E9E9E"/>
                </a:solidFill>
              </a:rPr>
              <a:t>efect]</a:t>
            </a:r>
            <a:endParaRPr b="1">
              <a:solidFill>
                <a:srgbClr val="9E9E9E"/>
              </a:solidFill>
            </a:endParaRPr>
          </a:p>
        </p:txBody>
      </p:sp>
      <p:sp>
        <p:nvSpPr>
          <p:cNvPr id="217" name="Google Shape;217;p22"/>
          <p:cNvSpPr txBox="1"/>
          <p:nvPr>
            <p:ph idx="1" type="body"/>
          </p:nvPr>
        </p:nvSpPr>
        <p:spPr>
          <a:xfrm>
            <a:off x="729450" y="4070275"/>
            <a:ext cx="7688700" cy="10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Number of Agents</a:t>
            </a:r>
            <a:r>
              <a:rPr b="1" lang="en-GB" sz="1000">
                <a:solidFill>
                  <a:srgbClr val="B7B7B7"/>
                </a:solidFill>
              </a:rPr>
              <a:t>: </a:t>
            </a:r>
            <a:r>
              <a:rPr lang="en-GB" sz="1000">
                <a:solidFill>
                  <a:srgbClr val="B7B7B7"/>
                </a:solidFill>
              </a:rPr>
              <a:t>100 (80 majority, 20 minority)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Small World Network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Link Number: 2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Rewire Probability: 0.2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Simulation Length: 500 Ticks. All metrics acquired in the last tick.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Repetitions: 20</a:t>
            </a:r>
            <a:endParaRPr sz="1000">
              <a:solidFill>
                <a:srgbClr val="B7B7B7"/>
              </a:solidFill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4942325" y="2593225"/>
            <a:ext cx="3357000" cy="25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Perturbation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Every 35 ticks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, add a random new link for every agent</a:t>
            </a:r>
            <a:r>
              <a:rPr baseline="30000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*</a:t>
            </a:r>
            <a:endParaRPr baseline="30000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*</a:t>
            </a: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If it is not already connected to every other one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</a:t>
            </a:r>
            <a:endParaRPr/>
          </a:p>
        </p:txBody>
      </p:sp>
      <p:pic>
        <p:nvPicPr>
          <p:cNvPr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853851"/>
            <a:ext cx="4182989" cy="3137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5011000" y="2082175"/>
            <a:ext cx="3650100" cy="29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Key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Takeaway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whole landscape does not display much change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Slight increase in most dominant (egoistic) type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65730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Perturbation 	 						No Perturbation</a:t>
            </a:r>
            <a:endParaRPr sz="1000"/>
          </a:p>
        </p:txBody>
      </p:sp>
      <p:pic>
        <p:nvPicPr>
          <p:cNvPr id="231" name="Google Shape;2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853851"/>
            <a:ext cx="4182989" cy="313724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5011000" y="2082175"/>
            <a:ext cx="3650100" cy="29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8100" y="1853851"/>
            <a:ext cx="4182989" cy="313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</a:t>
            </a:r>
            <a:endParaRPr/>
          </a:p>
        </p:txBody>
      </p:sp>
      <p:pic>
        <p:nvPicPr>
          <p:cNvPr id="239" name="Google Shape;2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2006925"/>
            <a:ext cx="3961298" cy="297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0750" y="2096600"/>
            <a:ext cx="3841766" cy="2881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Experiment 3: Adding Other Common Strategies (Bó et al., 2019)</a:t>
            </a:r>
            <a:endParaRPr/>
          </a:p>
        </p:txBody>
      </p:sp>
      <p:sp>
        <p:nvSpPr>
          <p:cNvPr id="246" name="Google Shape;246;p26"/>
          <p:cNvSpPr txBox="1"/>
          <p:nvPr>
            <p:ph idx="1" type="body"/>
          </p:nvPr>
        </p:nvSpPr>
        <p:spPr>
          <a:xfrm>
            <a:off x="729450" y="2078875"/>
            <a:ext cx="7688700" cy="24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Research Question:</a:t>
            </a:r>
            <a:r>
              <a:rPr b="1" lang="en-GB"/>
              <a:t> </a:t>
            </a:r>
            <a:r>
              <a:rPr b="1" lang="en-GB">
                <a:highlight>
                  <a:srgbClr val="FFFF00"/>
                </a:highlight>
              </a:rPr>
              <a:t>How does new strategies change the pattern of γ and W influence?</a:t>
            </a:r>
            <a:endParaRPr b="1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E9E9E"/>
                </a:solidFill>
              </a:rPr>
              <a:t>γ</a:t>
            </a:r>
            <a:r>
              <a:rPr lang="en-GB">
                <a:solidFill>
                  <a:srgbClr val="9E9E9E"/>
                </a:solidFill>
              </a:rPr>
              <a:t>: [0 1 2 4 7 10 13 16 18 19 20]</a:t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E9E9E"/>
                </a:solidFill>
              </a:rPr>
              <a:t>W</a:t>
            </a:r>
            <a:r>
              <a:rPr lang="en-GB">
                <a:solidFill>
                  <a:srgbClr val="9E9E9E"/>
                </a:solidFill>
              </a:rPr>
              <a:t>: [0 1 2 4 7 10 13 16 18 19 20]</a:t>
            </a:r>
            <a:endParaRPr b="1">
              <a:solidFill>
                <a:srgbClr val="9E9E9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E9E9E"/>
                </a:solidFill>
              </a:rPr>
              <a:t>In-group Likeness</a:t>
            </a:r>
            <a:r>
              <a:rPr lang="en-GB">
                <a:solidFill>
                  <a:srgbClr val="9E9E9E"/>
                </a:solidFill>
              </a:rPr>
              <a:t>: 0.7</a:t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E9E9E"/>
                </a:solidFill>
              </a:rPr>
              <a:t>Out-group Likeness</a:t>
            </a:r>
            <a:r>
              <a:rPr lang="en-GB">
                <a:solidFill>
                  <a:srgbClr val="9E9E9E"/>
                </a:solidFill>
              </a:rPr>
              <a:t>: 0.3</a:t>
            </a:r>
            <a:endParaRPr>
              <a:solidFill>
                <a:srgbClr val="9E9E9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Possible Strategies</a:t>
            </a:r>
            <a:r>
              <a:rPr lang="en-GB"/>
              <a:t>: [Always </a:t>
            </a:r>
            <a:r>
              <a:rPr b="1" lang="en-GB"/>
              <a:t>C</a:t>
            </a:r>
            <a:r>
              <a:rPr lang="en-GB"/>
              <a:t>ooperate, </a:t>
            </a:r>
            <a:r>
              <a:rPr lang="en-GB">
                <a:solidFill>
                  <a:srgbClr val="C27BA0"/>
                </a:solidFill>
              </a:rPr>
              <a:t>Tit-for-two-tats, Tit-for-tat, Grim Trigger,</a:t>
            </a:r>
            <a:r>
              <a:rPr lang="en-GB"/>
              <a:t> Always </a:t>
            </a:r>
            <a:r>
              <a:rPr b="1" lang="en-GB"/>
              <a:t>D</a:t>
            </a:r>
            <a:r>
              <a:rPr lang="en-GB"/>
              <a:t>efect]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6"/>
          <p:cNvSpPr txBox="1"/>
          <p:nvPr>
            <p:ph idx="1" type="body"/>
          </p:nvPr>
        </p:nvSpPr>
        <p:spPr>
          <a:xfrm>
            <a:off x="729450" y="4070275"/>
            <a:ext cx="7688700" cy="10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Number of Agents</a:t>
            </a:r>
            <a:r>
              <a:rPr b="1" lang="en-GB" sz="1000">
                <a:solidFill>
                  <a:srgbClr val="B7B7B7"/>
                </a:solidFill>
              </a:rPr>
              <a:t>: </a:t>
            </a:r>
            <a:r>
              <a:rPr lang="en-GB" sz="1000">
                <a:solidFill>
                  <a:srgbClr val="B7B7B7"/>
                </a:solidFill>
              </a:rPr>
              <a:t>100 (80 majority, 20 minority)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Small World Network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Link Number: 2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Rewire Probability: 0.2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Simulation Length: 500 Ticks. All metrics acquired in the last tick.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Repetitions: 20									</a:t>
            </a:r>
            <a:endParaRPr sz="1000">
              <a:solidFill>
                <a:srgbClr val="B7B7B7"/>
              </a:solidFill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3770050" y="3343725"/>
            <a:ext cx="11589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“Betrayed twice,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then betray.”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4695850" y="3343725"/>
            <a:ext cx="11589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“Do the same as you did last round”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5694150" y="3343725"/>
            <a:ext cx="11589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“Betrayed once, never co-op”</a:t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0" y="0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Dal Bó, Pedro, and Guillaume R. Fréchette. 2019. "Strategy Choice in the Infinitely Repeated Prisoner's Dilemma." American Economic Review, 109 (11): 3929–52.</a:t>
            </a:r>
            <a:endParaRPr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</a:t>
            </a:r>
            <a:endParaRPr/>
          </a:p>
        </p:txBody>
      </p:sp>
      <p:pic>
        <p:nvPicPr>
          <p:cNvPr id="257" name="Google Shape;2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853851"/>
            <a:ext cx="4182989" cy="313724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7"/>
          <p:cNvSpPr txBox="1"/>
          <p:nvPr/>
        </p:nvSpPr>
        <p:spPr>
          <a:xfrm>
            <a:off x="5011000" y="2082175"/>
            <a:ext cx="3650100" cy="29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Key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Takeaway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Adding new strategies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causes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an overall increase in altruism and cosmopolitanism across different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γ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values.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Increasing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γ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still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induces defection and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shows similar pattern as in the base model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8818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Adding new Strategies						Binary Strategies</a:t>
            </a:r>
            <a:endParaRPr sz="1000"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853851"/>
            <a:ext cx="4182989" cy="3137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1450" y="1853851"/>
            <a:ext cx="4182989" cy="313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Experiment 4: Base Model </a:t>
            </a:r>
            <a:r>
              <a:rPr lang="en-GB"/>
              <a:t>(adapted from Lemos et al., 2020)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Research Question: </a:t>
            </a:r>
            <a:r>
              <a:rPr b="1" lang="en-GB">
                <a:highlight>
                  <a:srgbClr val="FFFF00"/>
                </a:highlight>
              </a:rPr>
              <a:t>How does likeness influence the pattern of dominant agent types?</a:t>
            </a:r>
            <a:endParaRPr b="1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γ and W</a:t>
            </a:r>
            <a:r>
              <a:rPr lang="en-GB"/>
              <a:t>: [5, 10], [5, 19]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In-group Likeness</a:t>
            </a:r>
            <a:r>
              <a:rPr lang="en-GB"/>
              <a:t>: 0.1~0.9 (Stepsize: 0.1)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Out-group Likeness</a:t>
            </a:r>
            <a:r>
              <a:rPr lang="en-GB"/>
              <a:t>: 0.1~0.9 (Stepsize: 0.1)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9E9E9E"/>
                </a:solidFill>
              </a:rPr>
              <a:t>Possible Strategies</a:t>
            </a:r>
            <a:r>
              <a:rPr lang="en-GB">
                <a:solidFill>
                  <a:srgbClr val="9E9E9E"/>
                </a:solidFill>
              </a:rPr>
              <a:t>: [Always </a:t>
            </a:r>
            <a:r>
              <a:rPr b="1" lang="en-GB">
                <a:solidFill>
                  <a:srgbClr val="9E9E9E"/>
                </a:solidFill>
              </a:rPr>
              <a:t>C</a:t>
            </a:r>
            <a:r>
              <a:rPr lang="en-GB">
                <a:solidFill>
                  <a:srgbClr val="9E9E9E"/>
                </a:solidFill>
              </a:rPr>
              <a:t>ooperate, Always </a:t>
            </a:r>
            <a:r>
              <a:rPr b="1" lang="en-GB">
                <a:solidFill>
                  <a:srgbClr val="9E9E9E"/>
                </a:solidFill>
              </a:rPr>
              <a:t>D</a:t>
            </a:r>
            <a:r>
              <a:rPr lang="en-GB">
                <a:solidFill>
                  <a:srgbClr val="9E9E9E"/>
                </a:solidFill>
              </a:rPr>
              <a:t>efect] (</a:t>
            </a:r>
            <a:r>
              <a:rPr i="1" lang="en-GB">
                <a:solidFill>
                  <a:srgbClr val="9E9E9E"/>
                </a:solidFill>
              </a:rPr>
              <a:t>Binary Strategies</a:t>
            </a:r>
            <a:r>
              <a:rPr lang="en-GB">
                <a:solidFill>
                  <a:srgbClr val="9E9E9E"/>
                </a:solidFill>
              </a:rPr>
              <a:t>)</a:t>
            </a:r>
            <a:endParaRPr b="1">
              <a:solidFill>
                <a:srgbClr val="9E9E9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72" name="Google Shape;272;p29"/>
          <p:cNvSpPr txBox="1"/>
          <p:nvPr>
            <p:ph idx="1" type="body"/>
          </p:nvPr>
        </p:nvSpPr>
        <p:spPr>
          <a:xfrm>
            <a:off x="729450" y="4070275"/>
            <a:ext cx="7688700" cy="10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Number of Agents</a:t>
            </a:r>
            <a:r>
              <a:rPr b="1" lang="en-GB" sz="1000">
                <a:solidFill>
                  <a:srgbClr val="B7B7B7"/>
                </a:solidFill>
              </a:rPr>
              <a:t>: </a:t>
            </a:r>
            <a:r>
              <a:rPr lang="en-GB" sz="1000">
                <a:solidFill>
                  <a:srgbClr val="B7B7B7"/>
                </a:solidFill>
              </a:rPr>
              <a:t>100 (80 majority, 20 minority)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Small World Network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Link Number: 2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Rewire Probability: 0.2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Simulation Length: 500 Ticks. All metrics acquired in the last tick.</a:t>
            </a:r>
            <a:endParaRPr sz="10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B7B7B7"/>
                </a:solidFill>
              </a:rPr>
              <a:t>Repetitions: 20</a:t>
            </a:r>
            <a:endParaRPr sz="1000">
              <a:solidFill>
                <a:srgbClr val="B7B7B7"/>
              </a:solidFill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0" y="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Lato"/>
                <a:ea typeface="Lato"/>
                <a:cs typeface="Lato"/>
                <a:sym typeface="Lato"/>
              </a:rPr>
              <a:t>Lemos, C.M., Gore, R.J., Lessard-Phillips, L. et al. A network agent-based model of ethnocentrism and intergroup cooperation. Qual Quant 54, 463–489 (2020). https://doi.org/10.1007/s11135-019-00856-y</a:t>
            </a:r>
            <a:endParaRPr sz="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Result (</a:t>
            </a:r>
            <a:r>
              <a:rPr lang="en-GB" sz="1000"/>
              <a:t>γ = 5, W = 10</a:t>
            </a:r>
            <a:r>
              <a:rPr lang="en-GB" sz="1000"/>
              <a:t>)</a:t>
            </a:r>
            <a:endParaRPr sz="1000"/>
          </a:p>
        </p:txBody>
      </p:sp>
      <p:pic>
        <p:nvPicPr>
          <p:cNvPr id="279" name="Google Shape;27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853851"/>
            <a:ext cx="4182989" cy="313724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0"/>
          <p:cNvSpPr txBox="1"/>
          <p:nvPr/>
        </p:nvSpPr>
        <p:spPr>
          <a:xfrm>
            <a:off x="5011000" y="2082175"/>
            <a:ext cx="3650100" cy="29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Key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Takeaway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High out-group likeness promotes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cosmopolitanism; low out-group likeness promotes egoism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High in-group and also out-group likeness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(might) 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promote altruism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Result </a:t>
            </a:r>
            <a:r>
              <a:rPr lang="en-GB" sz="1000"/>
              <a:t>(γ = 5, W = 10)</a:t>
            </a:r>
            <a:endParaRPr/>
          </a:p>
        </p:txBody>
      </p:sp>
      <p:pic>
        <p:nvPicPr>
          <p:cNvPr id="286" name="Google Shape;2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2006925"/>
            <a:ext cx="3961298" cy="297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0750" y="2096600"/>
            <a:ext cx="3841766" cy="2881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 </a:t>
            </a:r>
            <a:r>
              <a:rPr lang="en-GB" sz="2300"/>
              <a:t>(γ = 5, W = 19)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1853851"/>
            <a:ext cx="4182989" cy="313724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2"/>
          <p:cNvSpPr txBox="1"/>
          <p:nvPr/>
        </p:nvSpPr>
        <p:spPr>
          <a:xfrm>
            <a:off x="5011000" y="2082175"/>
            <a:ext cx="3650100" cy="29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Key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Takeaway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 extra adaptive structure, ethnocentrism and altruism emerge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 </a:t>
            </a:r>
            <a:r>
              <a:rPr lang="en-GB" sz="2300"/>
              <a:t>(γ = 5, W = 19)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50" y="2006925"/>
            <a:ext cx="3961298" cy="297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0750" y="2096600"/>
            <a:ext cx="3841766" cy="2881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 Remarks</a:t>
            </a:r>
            <a:endParaRPr/>
          </a:p>
        </p:txBody>
      </p:sp>
      <p:sp>
        <p:nvSpPr>
          <p:cNvPr id="307" name="Google Shape;307;p34"/>
          <p:cNvSpPr txBox="1"/>
          <p:nvPr>
            <p:ph idx="1" type="body"/>
          </p:nvPr>
        </p:nvSpPr>
        <p:spPr>
          <a:xfrm>
            <a:off x="729450" y="2078875"/>
            <a:ext cx="3842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K</a:t>
            </a:r>
            <a:r>
              <a:rPr b="1" lang="en-GB"/>
              <a:t>ey parameters and modifications </a:t>
            </a:r>
            <a:r>
              <a:rPr b="1" lang="en-GB"/>
              <a:t>🔧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❖"/>
            </a:pPr>
            <a:r>
              <a:rPr lang="en-GB"/>
              <a:t>High cooperation barrier promotes defect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lang="en-GB"/>
              <a:t>Adaptive</a:t>
            </a:r>
            <a:r>
              <a:rPr lang="en-GB"/>
              <a:t> structure propagates the dominant type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lang="en-GB"/>
              <a:t>Adding new strategies lead to altruism surge: </a:t>
            </a:r>
            <a:r>
              <a:rPr i="1" lang="en-GB"/>
              <a:t>“Don’t be evil”</a:t>
            </a:r>
            <a:endParaRPr i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❖"/>
            </a:pPr>
            <a:r>
              <a:rPr lang="en-GB"/>
              <a:t>Limited effect from perturbation</a:t>
            </a:r>
            <a:endParaRPr/>
          </a:p>
        </p:txBody>
      </p:sp>
      <p:sp>
        <p:nvSpPr>
          <p:cNvPr id="308" name="Google Shape;308;p34"/>
          <p:cNvSpPr txBox="1"/>
          <p:nvPr/>
        </p:nvSpPr>
        <p:spPr>
          <a:xfrm>
            <a:off x="4572000" y="2078875"/>
            <a:ext cx="38427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Emergence of types 🟦🟥🟧🟪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Ethnocentrism emerges in low cooperation barrier, highly adaptive structure, and favourable likeness condition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❖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Egoism prevalence implies different innate ability to spread across types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"/>
          <p:cNvSpPr txBox="1"/>
          <p:nvPr>
            <p:ph type="title"/>
          </p:nvPr>
        </p:nvSpPr>
        <p:spPr>
          <a:xfrm>
            <a:off x="782725" y="492875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Afon Khari, Xaver Weidinger, Yifan Luo</a:t>
            </a:r>
            <a:endParaRPr sz="1000"/>
          </a:p>
        </p:txBody>
      </p:sp>
      <p:sp>
        <p:nvSpPr>
          <p:cNvPr id="314" name="Google Shape;314;p35"/>
          <p:cNvSpPr txBox="1"/>
          <p:nvPr/>
        </p:nvSpPr>
        <p:spPr>
          <a:xfrm>
            <a:off x="753150" y="3516925"/>
            <a:ext cx="794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 and code are available here!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github.com/Beckinetic/ethnocentrism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15" name="Google Shape;3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4175" y="492873"/>
            <a:ext cx="5713622" cy="29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